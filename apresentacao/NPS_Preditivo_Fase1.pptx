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ivin Lauermann" userId="ba4c648b3dd0ed64" providerId="LiveId" clId="{5E27A208-1AA0-46AC-B8C3-8D785BE681F9}"/>
    <pc:docChg chg="custSel modSld">
      <pc:chgData name="Cleivin Lauermann" userId="ba4c648b3dd0ed64" providerId="LiveId" clId="{5E27A208-1AA0-46AC-B8C3-8D785BE681F9}" dt="2026-09-01T02:58:19.465" v="100" actId="20577"/>
      <pc:docMkLst>
        <pc:docMk/>
      </pc:docMkLst>
      <pc:sldChg chg="delSp modSp mod">
        <pc:chgData name="Cleivin Lauermann" userId="ba4c648b3dd0ed64" providerId="LiveId" clId="{5E27A208-1AA0-46AC-B8C3-8D785BE681F9}" dt="2026-09-01T02:26:24.386" v="55" actId="20577"/>
        <pc:sldMkLst>
          <pc:docMk/>
          <pc:sldMk cId="0" sldId="256"/>
        </pc:sldMkLst>
        <pc:spChg chg="mod">
          <ac:chgData name="Cleivin Lauermann" userId="ba4c648b3dd0ed64" providerId="LiveId" clId="{5E27A208-1AA0-46AC-B8C3-8D785BE681F9}" dt="2026-09-01T02:25:46.298" v="34" actId="20577"/>
          <ac:spMkLst>
            <pc:docMk/>
            <pc:sldMk cId="0" sldId="256"/>
            <ac:spMk id="8" creationId="{00000000-0000-0000-0000-000000000000}"/>
          </ac:spMkLst>
        </pc:spChg>
        <pc:spChg chg="del">
          <ac:chgData name="Cleivin Lauermann" userId="ba4c648b3dd0ed64" providerId="LiveId" clId="{5E27A208-1AA0-46AC-B8C3-8D785BE681F9}" dt="2026-09-01T02:26:06.954" v="48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Cleivin Lauermann" userId="ba4c648b3dd0ed64" providerId="LiveId" clId="{5E27A208-1AA0-46AC-B8C3-8D785BE681F9}" dt="2026-09-01T02:26:08.250" v="4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Cleivin Lauermann" userId="ba4c648b3dd0ed64" providerId="LiveId" clId="{5E27A208-1AA0-46AC-B8C3-8D785BE681F9}" dt="2026-09-01T02:26:05.306" v="46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Cleivin Lauermann" userId="ba4c648b3dd0ed64" providerId="LiveId" clId="{5E27A208-1AA0-46AC-B8C3-8D785BE681F9}" dt="2026-09-01T02:26:09.914" v="50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Cleivin Lauermann" userId="ba4c648b3dd0ed64" providerId="LiveId" clId="{5E27A208-1AA0-46AC-B8C3-8D785BE681F9}" dt="2026-09-01T02:26:11.450" v="51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Cleivin Lauermann" userId="ba4c648b3dd0ed64" providerId="LiveId" clId="{5E27A208-1AA0-46AC-B8C3-8D785BE681F9}" dt="2026-09-01T02:26:12.841" v="52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Cleivin Lauermann" userId="ba4c648b3dd0ed64" providerId="LiveId" clId="{5E27A208-1AA0-46AC-B8C3-8D785BE681F9}" dt="2026-09-01T02:24:23.355" v="12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Cleivin Lauermann" userId="ba4c648b3dd0ed64" providerId="LiveId" clId="{5E27A208-1AA0-46AC-B8C3-8D785BE681F9}" dt="2026-09-01T02:24:22.485" v="11" actId="478"/>
          <ac:spMkLst>
            <pc:docMk/>
            <pc:sldMk cId="0" sldId="256"/>
            <ac:spMk id="17" creationId="{00000000-0000-0000-0000-000000000000}"/>
          </ac:spMkLst>
        </pc:spChg>
        <pc:spChg chg="del mod">
          <ac:chgData name="Cleivin Lauermann" userId="ba4c648b3dd0ed64" providerId="LiveId" clId="{5E27A208-1AA0-46AC-B8C3-8D785BE681F9}" dt="2026-09-01T02:24:24.763" v="14" actId="478"/>
          <ac:spMkLst>
            <pc:docMk/>
            <pc:sldMk cId="0" sldId="256"/>
            <ac:spMk id="18" creationId="{00000000-0000-0000-0000-000000000000}"/>
          </ac:spMkLst>
        </pc:spChg>
        <pc:spChg chg="mod">
          <ac:chgData name="Cleivin Lauermann" userId="ba4c648b3dd0ed64" providerId="LiveId" clId="{5E27A208-1AA0-46AC-B8C3-8D785BE681F9}" dt="2026-09-01T02:24:42.290" v="30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Cleivin Lauermann" userId="ba4c648b3dd0ed64" providerId="LiveId" clId="{5E27A208-1AA0-46AC-B8C3-8D785BE681F9}" dt="2026-09-01T02:26:24.386" v="55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Cleivin Lauermann" userId="ba4c648b3dd0ed64" providerId="LiveId" clId="{5E27A208-1AA0-46AC-B8C3-8D785BE681F9}" dt="2026-09-01T02:44:59.956" v="99" actId="20577"/>
        <pc:sldMkLst>
          <pc:docMk/>
          <pc:sldMk cId="0" sldId="257"/>
        </pc:sldMkLst>
        <pc:spChg chg="mod">
          <ac:chgData name="Cleivin Lauermann" userId="ba4c648b3dd0ed64" providerId="LiveId" clId="{5E27A208-1AA0-46AC-B8C3-8D785BE681F9}" dt="2026-09-01T01:32:32.805" v="10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Cleivin Lauermann" userId="ba4c648b3dd0ed64" providerId="LiveId" clId="{5E27A208-1AA0-46AC-B8C3-8D785BE681F9}" dt="2026-09-01T02:41:32.607" v="94" actId="2057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Cleivin Lauermann" userId="ba4c648b3dd0ed64" providerId="LiveId" clId="{5E27A208-1AA0-46AC-B8C3-8D785BE681F9}" dt="2026-09-01T02:44:52.991" v="95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Cleivin Lauermann" userId="ba4c648b3dd0ed64" providerId="LiveId" clId="{5E27A208-1AA0-46AC-B8C3-8D785BE681F9}" dt="2026-09-01T02:44:59.956" v="99" actId="20577"/>
          <ac:spMkLst>
            <pc:docMk/>
            <pc:sldMk cId="0" sldId="257"/>
            <ac:spMk id="39" creationId="{00000000-0000-0000-0000-000000000000}"/>
          </ac:spMkLst>
        </pc:spChg>
        <pc:spChg chg="mod">
          <ac:chgData name="Cleivin Lauermann" userId="ba4c648b3dd0ed64" providerId="LiveId" clId="{5E27A208-1AA0-46AC-B8C3-8D785BE681F9}" dt="2026-09-01T02:44:55.447" v="96" actId="20577"/>
          <ac:spMkLst>
            <pc:docMk/>
            <pc:sldMk cId="0" sldId="257"/>
            <ac:spMk id="43" creationId="{00000000-0000-0000-0000-000000000000}"/>
          </ac:spMkLst>
        </pc:spChg>
      </pc:sldChg>
      <pc:sldChg chg="modSp mod">
        <pc:chgData name="Cleivin Lauermann" userId="ba4c648b3dd0ed64" providerId="LiveId" clId="{5E27A208-1AA0-46AC-B8C3-8D785BE681F9}" dt="2026-09-01T02:58:19.465" v="100" actId="20577"/>
        <pc:sldMkLst>
          <pc:docMk/>
          <pc:sldMk cId="0" sldId="258"/>
        </pc:sldMkLst>
        <pc:spChg chg="mod">
          <ac:chgData name="Cleivin Lauermann" userId="ba4c648b3dd0ed64" providerId="LiveId" clId="{5E27A208-1AA0-46AC-B8C3-8D785BE681F9}" dt="2026-09-01T02:58:19.465" v="100" actId="20577"/>
          <ac:spMkLst>
            <pc:docMk/>
            <pc:sldMk cId="0" sldId="258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19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Tech Challenge da Fase 1: NPS preditivo em e-commerce. A empresa só descobre a insatisfação quando já é tarde. Dá para ver os sinais antes da pesquisa — e agir. Nesta base, 73,5% dos pedidos já são detratores. A experiência quebra a partir de 3 dias de atraso. Cada dia a mais tira 1 ponto da nota. A hora de agir é o segundo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operação já quebrou: o cliente sofre com atraso, liga no SAC e faz reclamação. Isso vira uma experiência ruim — e ela se espalha. Só depois que o pedido encerra é que a pesquisa de NPS é coletada. Aí o custo aparece: menos compra de novo, boca a boca ruim e risco de cancelamento. Nesta base a nota média ficou em 4,45. 73,5% são detratores: a cada 100 clientes, 74 não recomendariam a loja. O saldo da amostra é menos 65,6 pontos. Promotores são poucos: só 7,9%.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 base total de 2.500 pedidos, retirei 144 por inconsistência nos dados — 5,8%. Tinha atraso maior que o prazo de entrega, o que não faz sentido, e nota de atendimento sem ter tido atendimento. Sobram 2.356 registros confiáveis para a análise. O alvo é prever o detrator. Nota de 0 a 6 é detrator; 7 e 8, neutro; 9 e 10, promotor. Testei estas hipóteses: atraso deve derrubar a nota; reclamação deve derrubar a nota; o SAC deve ser um alerta — dá para resolver o problema do cliente; tentativa de entrega frustrada deveria derrubar a nota; e regiões diferentes deveriam ter notas diferentes, porque a logística no Brasil é grande.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resultado das hipóteses: quem mexe na nota é a jornada, não o perfil do cliente. Atraso derruba a nota. Sem atraso a média é 6,7; com 5 dias ou mais, cai para 1,3. Reclamação também derruba. Com poucas reclamações a nota é 6,6; com muitas, 2,9. O SAC eu esperava que fosse um alerta — dá para resolver. O que vimos: quem liga no SAC já está frustrado. Mais contato também baixa a nota: de 5,5 sem contato para 2,5 com quatro ou mais. Já o número de tentativas de entrega e o perfil do cliente — região, idade, valor do pedido — não tiveram relevância na baixa do NPS.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comprovar, três cortes da jornada. Atraso: sem atraso a nota é 6,7 e 39% detratores. Com 1 a 2 dias — onde está o volume, 1.261 pedidos — já são 68%. No terceiro dia, 91%. Com 5 dias, 99%. SAC: sem contato a nota é 5,5. Com quatro ou mais, 2,5 e 94% detratores. Quem liga já está frustrado — o atendimento não recuperou. Reclamação: com poucas, nota 6,6 e só 32% detratores. Com 6 ou mais, 2,9 e 94%. Quem reclamou podia ser recuperado e mesmo assim saiu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Como melhorar: aumentar a equipe de logística para ter tempo hábil de entregar no prazo. E treinar o time do SAC para lidar melhor com a reclamação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jornada já está quebrada. A melhor forma de recuperar o NPS é melhorar a logística, para não ter atraso, e melhorar o atendimento do SAC. Cliente que reclamou e ligou era cliente que dava para recuperar — e ainda assim teve experiência ruim. Logística ruim mais atendimento ruim é baixa reputação. Crescimento acelerado nem sempre é a melhor solução se os processos não estão preparados para a demanda. Ficou claro: a empresa não está preparada para um crescimento de demanda.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TECH CHALLENGE  ·  FASE 1  ·  PÓS TECH AI SCIENTIST — FIAP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NPS </a:t>
            </a:r>
            <a:r>
              <a:rPr sz="3600" b="1" i="0" dirty="0" err="1">
                <a:solidFill>
                  <a:srgbClr val="FFFFFF"/>
                </a:solidFill>
                <a:latin typeface="Calibri"/>
              </a:rPr>
              <a:t>preditivo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A empresa só descobre a insatisfação quando já é tarde.
Dá para ver os sinais antes da pesquisa — e agir.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233172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400" b="1" i="0" dirty="0">
                <a:solidFill>
                  <a:srgbClr val="E65100"/>
                </a:solidFill>
                <a:latin typeface="Calibri"/>
              </a:rPr>
              <a:t>7</a:t>
            </a:r>
            <a:r>
              <a:rPr lang="pt-BR" sz="2400" b="1" i="0" dirty="0">
                <a:solidFill>
                  <a:srgbClr val="E65100"/>
                </a:solidFill>
                <a:latin typeface="Calibri"/>
              </a:rPr>
              <a:t>4</a:t>
            </a:r>
            <a:r>
              <a:rPr sz="2400" b="1" i="0" dirty="0">
                <a:solidFill>
                  <a:srgbClr val="E65100"/>
                </a:solidFill>
                <a:latin typeface="Calibri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2331720" cy="4114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já são detratores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1" i="0" dirty="0" err="1">
                <a:solidFill>
                  <a:srgbClr val="E65100"/>
                </a:solidFill>
                <a:latin typeface="Calibri"/>
              </a:rPr>
              <a:t>Problema</a:t>
            </a:r>
            <a:r>
              <a:rPr sz="1600" b="1" i="0" dirty="0">
                <a:solidFill>
                  <a:srgbClr val="E65100"/>
                </a:solidFill>
                <a:latin typeface="Calibri"/>
              </a:rPr>
              <a:t>  →  </a:t>
            </a:r>
            <a:r>
              <a:rPr lang="pt-BR" sz="1600" b="1" dirty="0">
                <a:solidFill>
                  <a:srgbClr val="E65100"/>
                </a:solidFill>
                <a:latin typeface="Calibri"/>
              </a:rPr>
              <a:t>Análise</a:t>
            </a:r>
            <a:r>
              <a:rPr sz="1600" b="1" i="0" dirty="0">
                <a:solidFill>
                  <a:srgbClr val="E65100"/>
                </a:solidFill>
                <a:latin typeface="Calibri"/>
              </a:rPr>
              <a:t>  →  </a:t>
            </a:r>
            <a:r>
              <a:rPr sz="1600" b="1" i="0" dirty="0" err="1">
                <a:solidFill>
                  <a:srgbClr val="E65100"/>
                </a:solidFill>
                <a:latin typeface="Calibri"/>
              </a:rPr>
              <a:t>solução</a:t>
            </a:r>
            <a:endParaRPr sz="1600" b="1" i="0" dirty="0">
              <a:solidFill>
                <a:srgbClr val="E6510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2.356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pedidos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filtrados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  ·  target: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nps_scor</a:t>
            </a:r>
            <a:r>
              <a:rPr lang="pt-BR" sz="1200" b="0" i="0" dirty="0">
                <a:solidFill>
                  <a:srgbClr val="64748B"/>
                </a:solidFill>
                <a:latin typeface="Calibri"/>
              </a:rPr>
              <a:t>e</a:t>
            </a:r>
            <a:endParaRPr sz="1200" b="0" i="0" dirty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01  · 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A insatisfação chega quando já não há o que fazer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O NPS é o termômetro. Ele não explica o porquê — e chega no fim da jornada.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274320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463040"/>
            <a:ext cx="242316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E6510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83080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Operação quebra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423160" cy="8229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 dirty="0" err="1">
                <a:solidFill>
                  <a:srgbClr val="5B677A"/>
                </a:solidFill>
                <a:latin typeface="Calibri"/>
              </a:rPr>
              <a:t>Atraso</a:t>
            </a:r>
            <a:r>
              <a:rPr sz="1300" b="0" i="0" dirty="0">
                <a:solidFill>
                  <a:srgbClr val="5B677A"/>
                </a:solidFill>
                <a:latin typeface="Calibri"/>
              </a:rPr>
              <a:t>, </a:t>
            </a:r>
            <a:r>
              <a:rPr lang="pt-BR" sz="1300" b="0" i="0" dirty="0">
                <a:solidFill>
                  <a:srgbClr val="5B677A"/>
                </a:solidFill>
                <a:latin typeface="Calibri"/>
              </a:rPr>
              <a:t>reclamações</a:t>
            </a:r>
            <a:r>
              <a:rPr sz="1300" b="0" i="0" dirty="0">
                <a:solidFill>
                  <a:srgbClr val="5B677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B677A"/>
                </a:solidFill>
                <a:latin typeface="Calibri"/>
              </a:rPr>
              <a:t>ou</a:t>
            </a:r>
            <a:r>
              <a:rPr sz="1300" b="0" i="0" dirty="0">
                <a:solidFill>
                  <a:srgbClr val="5B677A"/>
                </a:solidFill>
                <a:latin typeface="Calibri"/>
              </a:rPr>
              <a:t> SAC
</a:t>
            </a:r>
            <a:r>
              <a:rPr sz="1300" b="0" i="0" dirty="0" err="1">
                <a:solidFill>
                  <a:srgbClr val="5B677A"/>
                </a:solidFill>
                <a:latin typeface="Calibri"/>
              </a:rPr>
              <a:t>já</a:t>
            </a:r>
            <a:r>
              <a:rPr sz="1300" b="0" i="0" dirty="0">
                <a:solidFill>
                  <a:srgbClr val="5B677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B677A"/>
                </a:solidFill>
                <a:latin typeface="Calibri"/>
              </a:rPr>
              <a:t>prejudicaram</a:t>
            </a:r>
            <a:r>
              <a:rPr sz="1300" b="0" i="0" dirty="0">
                <a:solidFill>
                  <a:srgbClr val="5B677A"/>
                </a:solidFill>
                <a:latin typeface="Calibri"/>
              </a:rPr>
              <a:t> o </a:t>
            </a:r>
            <a:r>
              <a:rPr sz="1300" b="0" i="0" dirty="0" err="1">
                <a:solidFill>
                  <a:srgbClr val="5B677A"/>
                </a:solidFill>
                <a:latin typeface="Calibri"/>
              </a:rPr>
              <a:t>cliente</a:t>
            </a:r>
            <a:r>
              <a:rPr sz="1300" b="0" i="0" dirty="0">
                <a:solidFill>
                  <a:srgbClr val="5B677A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1" y="2011680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29844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298448"/>
            <a:ext cx="274320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1463040"/>
            <a:ext cx="242316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E6510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1783080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Cliente sofre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194560"/>
            <a:ext cx="2423160" cy="8229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A experiência ruim
aconteceu — e se espalha.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2011680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29844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1298448"/>
            <a:ext cx="274320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1463040"/>
            <a:ext cx="242316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E65100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1783080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Pesquisa chega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194560"/>
            <a:ext cx="2423160" cy="8229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O NPS só é coletado
depois do pedido encerrar.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2011680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129844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81160" y="1298448"/>
            <a:ext cx="274320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45752" y="1463040"/>
            <a:ext cx="242316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E65100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1783080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O custo aparece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2194560"/>
            <a:ext cx="2423160" cy="8229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 dirty="0">
                <a:solidFill>
                  <a:srgbClr val="5B677A"/>
                </a:solidFill>
                <a:latin typeface="Calibri"/>
              </a:rPr>
              <a:t>Menos </a:t>
            </a:r>
            <a:r>
              <a:rPr sz="1300" b="0" i="0" dirty="0" err="1">
                <a:solidFill>
                  <a:srgbClr val="5B677A"/>
                </a:solidFill>
                <a:latin typeface="Calibri"/>
              </a:rPr>
              <a:t>recompra</a:t>
            </a:r>
            <a:r>
              <a:rPr sz="1300" b="0" i="0" dirty="0">
                <a:solidFill>
                  <a:srgbClr val="5B677A"/>
                </a:solidFill>
                <a:latin typeface="Calibri"/>
              </a:rPr>
              <a:t>, </a:t>
            </a:r>
            <a:r>
              <a:rPr lang="pt-BR" sz="1300" b="0" i="0" dirty="0">
                <a:solidFill>
                  <a:srgbClr val="5B677A"/>
                </a:solidFill>
                <a:latin typeface="Calibri"/>
              </a:rPr>
              <a:t>menos clientes novos e má reputação.</a:t>
            </a:r>
            <a:endParaRPr sz="1300" b="0" i="0" dirty="0">
              <a:solidFill>
                <a:srgbClr val="5B677A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3474720"/>
            <a:ext cx="27432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" y="3657600"/>
            <a:ext cx="242316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800" b="1" i="0">
                <a:solidFill>
                  <a:srgbClr val="E65100"/>
                </a:solidFill>
                <a:latin typeface="Calibri"/>
              </a:rPr>
              <a:t>4,45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4343400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NPS médio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4754880"/>
            <a:ext cx="242316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>
                <a:solidFill>
                  <a:srgbClr val="5B677A"/>
                </a:solidFill>
                <a:latin typeface="Calibri"/>
              </a:rPr>
              <a:t>IC 95%  4,35 a 4,55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3474720"/>
            <a:ext cx="27432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3592" y="3657600"/>
            <a:ext cx="242316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800" b="1" i="0" dirty="0">
                <a:solidFill>
                  <a:srgbClr val="B71C1C"/>
                </a:solidFill>
                <a:latin typeface="Calibri"/>
              </a:rPr>
              <a:t>7</a:t>
            </a:r>
            <a:r>
              <a:rPr lang="pt-BR" sz="2800" b="1" i="0" dirty="0">
                <a:solidFill>
                  <a:srgbClr val="B71C1C"/>
                </a:solidFill>
                <a:latin typeface="Calibri"/>
              </a:rPr>
              <a:t>4</a:t>
            </a:r>
            <a:r>
              <a:rPr sz="2800" b="1" i="0" dirty="0">
                <a:solidFill>
                  <a:srgbClr val="B71C1C"/>
                </a:solidFill>
                <a:latin typeface="Calibri"/>
              </a:rPr>
              <a:t>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3592" y="4343400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detratores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754880"/>
            <a:ext cx="242316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>
                <a:solidFill>
                  <a:srgbClr val="5B677A"/>
                </a:solidFill>
                <a:latin typeface="Calibri"/>
              </a:rPr>
              <a:t>IC 95%  71,7% a 75,3%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474720"/>
            <a:ext cx="27432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19672" y="3657600"/>
            <a:ext cx="242316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800" b="1" i="0" dirty="0">
                <a:solidFill>
                  <a:srgbClr val="B71C1C"/>
                </a:solidFill>
                <a:latin typeface="Calibri"/>
              </a:rPr>
              <a:t>−6</a:t>
            </a:r>
            <a:r>
              <a:rPr lang="pt-BR" sz="2800" b="1" i="0" dirty="0">
                <a:solidFill>
                  <a:srgbClr val="B71C1C"/>
                </a:solidFill>
                <a:latin typeface="Calibri"/>
              </a:rPr>
              <a:t>6</a:t>
            </a:r>
            <a:endParaRPr sz="2800" b="1" i="0" dirty="0">
              <a:solidFill>
                <a:srgbClr val="B71C1C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19672" y="4343400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NPS da amostra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4754880"/>
            <a:ext cx="242316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>
                <a:solidFill>
                  <a:srgbClr val="5B677A"/>
                </a:solidFill>
                <a:latin typeface="Calibri"/>
              </a:rPr>
              <a:t>promotores − detratores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3474720"/>
            <a:ext cx="27432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45752" y="3657600"/>
            <a:ext cx="242316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lang="pt-BR" sz="2800" b="1" i="0" dirty="0">
                <a:solidFill>
                  <a:srgbClr val="0F766E"/>
                </a:solidFill>
                <a:latin typeface="Calibri"/>
              </a:rPr>
              <a:t>8</a:t>
            </a:r>
            <a:r>
              <a:rPr sz="2800" b="1" i="0" dirty="0">
                <a:solidFill>
                  <a:srgbClr val="0F766E"/>
                </a:solidFill>
                <a:latin typeface="Calibri"/>
              </a:rPr>
              <a:t>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5752" y="4343400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promotores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5752" y="4754880"/>
            <a:ext cx="242316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>
                <a:solidFill>
                  <a:srgbClr val="5B677A"/>
                </a:solidFill>
                <a:latin typeface="Calibri"/>
              </a:rPr>
              <a:t>só 187 em 2.356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65392"/>
            <a:ext cx="93268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Tech Challenge Fase 1  ·  NPS Preditivo  ·  Pós Tech AI Scientist — FIAP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565392"/>
            <a:ext cx="10972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r"/>
            <a:r>
              <a:rPr sz="1000" b="0" i="0">
                <a:solidFill>
                  <a:srgbClr val="5B677A"/>
                </a:solidFill>
                <a:latin typeface="Calibri"/>
              </a:rPr>
              <a:t>2  / 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02  ·  COMO A BASE FOI AJUSTADA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Tirei inconsistência, defini o detrator e testei as hipóteses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Atraso maior que o prazo, ou nota de atendimento sem atendimento. Restaram 2.356 pedidos.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324612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2.500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24612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pedidos na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8" y="1600200"/>
            <a:ext cx="41148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000" b="1" i="0">
                <a:solidFill>
                  <a:srgbClr val="E6510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98448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389888"/>
            <a:ext cx="324612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600" b="1" i="0">
                <a:solidFill>
                  <a:srgbClr val="B71C1C"/>
                </a:solidFill>
                <a:latin typeface="Calibri"/>
              </a:rPr>
              <a:t>−144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24612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inconsistentes (5,8%)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600200"/>
            <a:ext cx="41148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000" b="1" i="0">
                <a:solidFill>
                  <a:srgbClr val="E6510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298448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389888"/>
            <a:ext cx="324612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600" b="1" i="0">
                <a:solidFill>
                  <a:srgbClr val="0F766E"/>
                </a:solidFill>
                <a:latin typeface="Calibri"/>
              </a:rPr>
              <a:t>2.356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20240"/>
            <a:ext cx="324612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pedidos na análise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51760"/>
            <a:ext cx="562356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788920"/>
            <a:ext cx="525780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Alvo: prever o detrator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5257800" cy="2743200"/>
          </a:xfrm>
          <a:prstGeom prst="rect">
            <a:avLst/>
          </a:prstGeom>
          <a:noFill/>
        </p:spPr>
        <p:txBody>
          <a:bodyPr wrap="square" lIns="54864" tIns="36576" rIns="54864" bIns="36576"/>
          <a:lstStyle/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0F172A"/>
                </a:solidFill>
                <a:latin typeface="Calibri"/>
              </a:rPr>
              <a:t>0 a 6 —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detrator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 (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não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recomendaria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0F172A"/>
                </a:solidFill>
                <a:latin typeface="Calibri"/>
              </a:rPr>
              <a:t>7 e 8 —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neutro</a:t>
            </a:r>
            <a:endParaRPr sz="1400" b="0" i="0" dirty="0">
              <a:solidFill>
                <a:srgbClr val="0F172A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0F172A"/>
                </a:solidFill>
                <a:latin typeface="Calibri"/>
              </a:rPr>
              <a:t>9 e 10 — promotor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651760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651760"/>
            <a:ext cx="91440" cy="6583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688336"/>
            <a:ext cx="489204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Atraso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62656"/>
            <a:ext cx="489204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>
                <a:solidFill>
                  <a:srgbClr val="5B677A"/>
                </a:solidFill>
                <a:latin typeface="Calibri"/>
              </a:rPr>
              <a:t>Deveria derrubar a nota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355848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355848"/>
            <a:ext cx="91440" cy="6583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392424"/>
            <a:ext cx="489204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Reclamações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666744"/>
            <a:ext cx="489204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>
                <a:solidFill>
                  <a:srgbClr val="5B677A"/>
                </a:solidFill>
                <a:latin typeface="Calibri"/>
              </a:rPr>
              <a:t>Deveriam derrubar a nota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59935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4059935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4096511"/>
            <a:ext cx="489204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SAC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370831"/>
            <a:ext cx="489204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>
                <a:solidFill>
                  <a:srgbClr val="5B677A"/>
                </a:solidFill>
                <a:latin typeface="Calibri"/>
              </a:rPr>
              <a:t>Deveria ser um alerta — dá para resolver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764024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764024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800600"/>
            <a:ext cx="489204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Tentativas frustradas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74920"/>
            <a:ext cx="489204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>
                <a:solidFill>
                  <a:srgbClr val="5B677A"/>
                </a:solidFill>
                <a:latin typeface="Calibri"/>
              </a:rPr>
              <a:t>Deveriam derrubar a nota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468112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5468112"/>
            <a:ext cx="91440" cy="658368"/>
          </a:xfrm>
          <a:prstGeom prst="rect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5504688"/>
            <a:ext cx="489204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Região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779008"/>
            <a:ext cx="489204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0" i="0">
                <a:solidFill>
                  <a:srgbClr val="5B677A"/>
                </a:solidFill>
                <a:latin typeface="Calibri"/>
              </a:rPr>
              <a:t>Notas diferentes: logística no Brasil é grande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65392"/>
            <a:ext cx="93268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Tech Challenge Fase 1  ·  NPS Preditivo  ·  Pós Tech AI Scientist — FIAP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565392"/>
            <a:ext cx="10972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r"/>
            <a:r>
              <a:rPr sz="1000" b="0" i="0">
                <a:solidFill>
                  <a:srgbClr val="5B677A"/>
                </a:solidFill>
                <a:latin typeface="Calibri"/>
              </a:rPr>
              <a:t>3  / 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03  ·  RESULTADO DAS HIPÓTESES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Quem mexe na nota é a jornada — não o perfil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Atraso, reclamação e SAC baixam a nota. Tentativas e perfil, não.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76352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09728" cy="11155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08176"/>
            <a:ext cx="475488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01  Atraso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408176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r"/>
            <a:r>
              <a:rPr sz="1600" b="1" i="0">
                <a:solidFill>
                  <a:srgbClr val="E65100"/>
                </a:solidFill>
                <a:latin typeface="Calibri"/>
              </a:rPr>
              <a:t>6,7 → 1,3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73936"/>
            <a:ext cx="7040880" cy="53035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Sem atraso a nota média é 6,7. Com 5 dias ou mais, 1,3. Cada dia a mais piora a experiência.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32888"/>
            <a:ext cx="76352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532888"/>
            <a:ext cx="109728" cy="111556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42616"/>
            <a:ext cx="475488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02  Reclamações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42616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r"/>
            <a:r>
              <a:rPr sz="1600" b="1" i="0">
                <a:solidFill>
                  <a:srgbClr val="B71C1C"/>
                </a:solidFill>
                <a:latin typeface="Calibri"/>
              </a:rPr>
              <a:t>6,6 → 2,9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08376"/>
            <a:ext cx="7040880" cy="53035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Poucas reclamações: nota 6,6. Muitas: 2,9. Reclamação marca insatisfação no pedido.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67328"/>
            <a:ext cx="76352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767328"/>
            <a:ext cx="10972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877056"/>
            <a:ext cx="475488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03  Contatos no SAC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877056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r"/>
            <a:r>
              <a:rPr sz="1600" b="1" i="0">
                <a:solidFill>
                  <a:srgbClr val="F59E0B"/>
                </a:solidFill>
                <a:latin typeface="Calibri"/>
              </a:rPr>
              <a:t>5,5 → 2,5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42816"/>
            <a:ext cx="7040880" cy="53035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Quem liga já está frustrado. Sem contato: 5,5. Quatro ou mais: 2,5. O SAC também baixa a nota.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298448"/>
            <a:ext cx="3337560" cy="370332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1444752"/>
            <a:ext cx="297180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E65100"/>
                </a:solidFill>
                <a:latin typeface="Calibri"/>
              </a:rPr>
              <a:t>O que NÃO baixou a nota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1920240"/>
            <a:ext cx="2971800" cy="2834640"/>
          </a:xfrm>
          <a:prstGeom prst="rect">
            <a:avLst/>
          </a:prstGeom>
          <a:noFill/>
        </p:spPr>
        <p:txBody>
          <a:bodyPr wrap="square" lIns="54864" tIns="36576" rIns="54864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Tentativas de entrega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1, 2 ou 3 visitas: a nota quase não muda.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Perfil do cliente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Região, idade e valor do pedido não separam quem recomenda de quem não recomenda.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Conclusão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Priorizar a entrega e o pedido, não campanha por perfil.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2064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257800"/>
            <a:ext cx="10789920" cy="8229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Constatação: o cliente que entra no SAC já está frustrado — o contato não é só alerta, também acompanha nota mais baixa. Tentativas frustradas e perfil não explicam a queda.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93268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Tech Challenge Fase 1  ·  NPS Preditivo  ·  Pós Tech AI Scientist — FIAP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65392"/>
            <a:ext cx="10972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r"/>
            <a:r>
              <a:rPr sz="1000" b="0" i="0">
                <a:solidFill>
                  <a:srgbClr val="5B677A"/>
                </a:solidFill>
                <a:latin typeface="Calibri"/>
              </a:rPr>
              <a:t>4  / 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04  ·  A PROVA NOS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Atraso, SAC e reclamação — a nota cai na mesma direção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Média da nota à esquerda. Percentual de detratores à direita.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133856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225296"/>
            <a:ext cx="137160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Atraso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243584"/>
            <a:ext cx="4023360" cy="2194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Nota média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243584"/>
            <a:ext cx="4754880" cy="2194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% detratores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093976"/>
            <a:ext cx="4114800" cy="9144"/>
          </a:xfrm>
          <a:prstGeom prst="rect">
            <a:avLst/>
          </a:prstGeom>
          <a:solidFill>
            <a:srgbClr val="E5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20240" y="1565567"/>
            <a:ext cx="980694" cy="52840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83664" y="1382687"/>
            <a:ext cx="1053846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6.7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2112264"/>
            <a:ext cx="1090422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0 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4942" y="1691754"/>
            <a:ext cx="980694" cy="402221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8366" y="1508874"/>
            <a:ext cx="1053846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5.1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0078" y="2112264"/>
            <a:ext cx="1090422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1–2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09644" y="1849488"/>
            <a:ext cx="980694" cy="244487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73068" y="1666608"/>
            <a:ext cx="1053846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3.1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4780" y="2112264"/>
            <a:ext cx="1090422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3–4 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4346" y="1991448"/>
            <a:ext cx="980694" cy="102527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17770" y="1808568"/>
            <a:ext cx="1053846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1.3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9482" y="2112264"/>
            <a:ext cx="1090422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5+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481328"/>
            <a:ext cx="960120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0 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35824" y="1537655"/>
            <a:ext cx="1230325" cy="107533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2725" y="1481328"/>
            <a:ext cx="566928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39%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37360"/>
            <a:ext cx="960120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1–2 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35824" y="1793687"/>
            <a:ext cx="2145182" cy="107533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17582" y="1737360"/>
            <a:ext cx="566928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68%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993392"/>
            <a:ext cx="960120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3–4 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35824" y="2049719"/>
            <a:ext cx="2870758" cy="107533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43158" y="1993392"/>
            <a:ext cx="566928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91%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249424"/>
            <a:ext cx="960120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5+ 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35824" y="2305751"/>
            <a:ext cx="3123133" cy="107533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895533" y="2249424"/>
            <a:ext cx="566928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99%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2523744"/>
            <a:ext cx="1097280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100" b="0" i="0">
                <a:solidFill>
                  <a:srgbClr val="5B677A"/>
                </a:solidFill>
                <a:latin typeface="Calibri"/>
              </a:rPr>
              <a:t>Volume em 1–2 dias (1.261 pedidos, 68%). Quebra em 3 dias (91%).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926080"/>
            <a:ext cx="1133856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2980944"/>
            <a:ext cx="137160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SAC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2999232"/>
            <a:ext cx="4023360" cy="2194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Nota média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999232"/>
            <a:ext cx="4754880" cy="2194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% detratores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3849624"/>
            <a:ext cx="4114800" cy="9144"/>
          </a:xfrm>
          <a:prstGeom prst="rect">
            <a:avLst/>
          </a:prstGeom>
          <a:solidFill>
            <a:srgbClr val="E5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920240" y="3415855"/>
            <a:ext cx="980694" cy="43376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83664" y="3232975"/>
            <a:ext cx="1053846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5.5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65376" y="3867911"/>
            <a:ext cx="1090422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64942" y="3471062"/>
            <a:ext cx="980694" cy="378561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28366" y="3288182"/>
            <a:ext cx="1053846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4.8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10078" y="3867911"/>
            <a:ext cx="1090422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09644" y="3542042"/>
            <a:ext cx="980694" cy="307581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73068" y="3359162"/>
            <a:ext cx="1053846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3.9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4780" y="3867911"/>
            <a:ext cx="1090422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2–3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54346" y="3652456"/>
            <a:ext cx="980694" cy="197167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17770" y="3469576"/>
            <a:ext cx="1053846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2.5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99482" y="3867911"/>
            <a:ext cx="1090422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4+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236976"/>
            <a:ext cx="960120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35824" y="3293303"/>
            <a:ext cx="1892807" cy="107533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65208" y="3236976"/>
            <a:ext cx="566928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60%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3493008"/>
            <a:ext cx="960120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35824" y="3549335"/>
            <a:ext cx="2176729" cy="107533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949129" y="3493008"/>
            <a:ext cx="566928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69%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3749039"/>
            <a:ext cx="960120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2–3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35824" y="3805367"/>
            <a:ext cx="2555290" cy="107533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327690" y="3749039"/>
            <a:ext cx="566928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81%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0840" y="4005072"/>
            <a:ext cx="960120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4+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35824" y="4061399"/>
            <a:ext cx="2965399" cy="107533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737799" y="4005072"/>
            <a:ext cx="566928" cy="21762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94%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" y="4279392"/>
            <a:ext cx="1097280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100" b="0" i="0">
                <a:solidFill>
                  <a:srgbClr val="5B677A"/>
                </a:solidFill>
                <a:latin typeface="Calibri"/>
              </a:rPr>
              <a:t>Quem liga já está frustrado. Quatro ou mais contatos: nota 2,5.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" y="4681728"/>
            <a:ext cx="1133856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0352" y="4736592"/>
            <a:ext cx="137160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Reclamação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4754880"/>
            <a:ext cx="4023360" cy="2194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Nota média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4754880"/>
            <a:ext cx="4754880" cy="2194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% detratores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5605272"/>
            <a:ext cx="4114800" cy="9144"/>
          </a:xfrm>
          <a:prstGeom prst="rect">
            <a:avLst/>
          </a:prstGeom>
          <a:solidFill>
            <a:srgbClr val="E5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1920240" y="5084749"/>
            <a:ext cx="1328928" cy="52052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883664" y="4901869"/>
            <a:ext cx="1402080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6.6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65376" y="5623560"/>
            <a:ext cx="1438656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0–2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13176" y="5258257"/>
            <a:ext cx="1328928" cy="347014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276600" y="5075377"/>
            <a:ext cx="1402080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4.4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58312" y="5623560"/>
            <a:ext cx="1438656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3–5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06112" y="5376557"/>
            <a:ext cx="1328928" cy="228714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69536" y="5193677"/>
            <a:ext cx="1402080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2.9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51248" y="5623560"/>
            <a:ext cx="1438656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800" b="0" i="0">
                <a:solidFill>
                  <a:srgbClr val="5B677A"/>
                </a:solidFill>
                <a:latin typeface="Calibri"/>
              </a:rPr>
              <a:t>6+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20840" y="4992624"/>
            <a:ext cx="960120" cy="290169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0–2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735824" y="5067726"/>
            <a:ext cx="1009497" cy="143377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781897" y="4992624"/>
            <a:ext cx="566928" cy="290169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32%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20840" y="5334000"/>
            <a:ext cx="960120" cy="290169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3–5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35824" y="5409102"/>
            <a:ext cx="2460650" cy="143377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233050" y="5334000"/>
            <a:ext cx="566928" cy="290169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78%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20840" y="5675376"/>
            <a:ext cx="960120" cy="290169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6+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735824" y="5750478"/>
            <a:ext cx="2965399" cy="143377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737799" y="5675376"/>
            <a:ext cx="566928" cy="290169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94%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0352" y="6035040"/>
            <a:ext cx="1097280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100" b="0" i="0">
                <a:solidFill>
                  <a:srgbClr val="5B677A"/>
                </a:solidFill>
                <a:latin typeface="Calibri"/>
              </a:rPr>
              <a:t>Poucas reclamações: 32% detratores. Seis ou mais: 94%.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6565392"/>
            <a:ext cx="93268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Tech Challenge Fase 1  ·  NPS Preditivo  ·  Pós Tech AI Scientist — FIAP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07040" y="6565392"/>
            <a:ext cx="10972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r"/>
            <a:r>
              <a:rPr sz="1000" b="0" i="0">
                <a:solidFill>
                  <a:srgbClr val="5B677A"/>
                </a:solidFill>
                <a:latin typeface="Calibri"/>
              </a:rPr>
              <a:t>5  / 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05  ·  COMO MELHORAR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Duas frentes: entregar no prazo e atender quem já reclamou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Quem ligou e quem reclamou ainda dava para recuperar. A operação não recuperou.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09728" cy="47548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E65100"/>
                </a:solidFill>
                <a:latin typeface="Calibri"/>
              </a:rPr>
              <a:t>01  Logística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93776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000" b="1" i="0">
                <a:solidFill>
                  <a:srgbClr val="0D1B2A"/>
                </a:solidFill>
                <a:latin typeface="Calibri"/>
              </a:rPr>
              <a:t>Aumentar a equipe para ter tempo hábil de entregar.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4937760" cy="2926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500" b="0" i="0">
                <a:solidFill>
                  <a:srgbClr val="5B677A"/>
                </a:solidFill>
                <a:latin typeface="Calibri"/>
              </a:rPr>
              <a:t>Sem atraso a nota é 6,7. Com 3 dias, 91% já são detratores. O volume está no atraso de 1 a 2 dias. A meta não é atrasar pouco: é entregar no prazo.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109728" cy="4754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937760" cy="320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E65100"/>
                </a:solidFill>
                <a:latin typeface="Calibri"/>
              </a:rPr>
              <a:t>02  Atendimento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937760" cy="8229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000" b="1" i="0">
                <a:solidFill>
                  <a:srgbClr val="0D1B2A"/>
                </a:solidFill>
                <a:latin typeface="Calibri"/>
              </a:rPr>
              <a:t>Treinar o SAC para lidar melhor com a reclamação.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4937760" cy="2834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500" b="0" i="0">
                <a:solidFill>
                  <a:srgbClr val="5B677A"/>
                </a:solidFill>
                <a:latin typeface="Calibri"/>
              </a:rPr>
              <a:t>Quem reclama e quem liga ainda dava para recuperar. Com 6 ou mais reclamações, 94% saem detratores. Com 4 ou mais contatos, a nota cai para 2,5. O atendimento não está fechando o problema.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93268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000" b="0" i="0">
                <a:solidFill>
                  <a:srgbClr val="5B677A"/>
                </a:solidFill>
                <a:latin typeface="Calibri"/>
              </a:rPr>
              <a:t>Tech Challenge Fase 1  ·  NPS Preditivo  ·  Pós Tech AI Scientist — FIAP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65392"/>
            <a:ext cx="10972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r"/>
            <a:r>
              <a:rPr sz="1000" b="0" i="0">
                <a:solidFill>
                  <a:srgbClr val="5B677A"/>
                </a:solidFill>
                <a:latin typeface="Calibri"/>
              </a:rPr>
              <a:t>6  /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1" i="0">
                <a:solidFill>
                  <a:srgbClr val="E65100"/>
                </a:solidFill>
                <a:latin typeface="Calibri"/>
              </a:rPr>
              <a:t>06  ·  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 jornada já está quebrada.
Logística ruim + atendimento ruim = baixa reputação.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2344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Quem reclamou e ligou no SAC ainda dava para recuperar — e mesmo assim teve experiência ruim. Crescimento acelerado não é a melhor solução se os processos não aguentam a demanda. Ficou claro: a empresa não está preparada para crescer a demanda.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3547872"/>
            <a:ext cx="315468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Logística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41648"/>
            <a:ext cx="3154680" cy="548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mais gente, entregar no prazo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3832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3547872"/>
            <a:ext cx="315468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SAC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041648"/>
            <a:ext cx="3154680" cy="548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treino para a reclamação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33832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9" y="3547872"/>
            <a:ext cx="315468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Reputação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4041648"/>
            <a:ext cx="3154680" cy="548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não crescer em cima de processo quebrado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2.356 pedidos  ·  Tech Challenge Fase 1  ·  Pós Tech AI Scientist — FIAP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1658</Words>
  <Application>Microsoft Office PowerPoint</Application>
  <PresentationFormat>Widescreen</PresentationFormat>
  <Paragraphs>178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Cleivin Lauermann</cp:lastModifiedBy>
  <cp:revision>1</cp:revision>
  <dcterms:created xsi:type="dcterms:W3CDTF">2013-01-27T09:14:16Z</dcterms:created>
  <dcterms:modified xsi:type="dcterms:W3CDTF">2026-09-01T04:20:56Z</dcterms:modified>
  <cp:category/>
</cp:coreProperties>
</file>