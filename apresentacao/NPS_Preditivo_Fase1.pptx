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Olá. Este é o Tech Challenge da Fase 1: NPS preditivo em e-commerce. A pergunta que guia o trabalho é: dá para identificar sinais de insatisfação antes do cliente responder a pesquisa? Em 2.356 pedidos, 3 em cada 4 já saem como detratores. O atraso na entrega é o fator que mais derruba a nota — e a experiência quebra de verdade a partir de 3 dias. Vou mostrar a evidência e o que a operação pode fazer segunda-feira.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Vou seguir cinco blocos. Primeiro o problema de negócio. Depois como definimos o target e limpamos a base. Em seguida o que a EDA mostra — fatores, detratores e o ponto de ruptura. Aí a validação estatística, para não vender correlação como prova. Fecho com o plano operacional. Tudo isso cabe na conversa com o gerente de operações.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problema de negócio é timing. A empresa só percebe a insatisfação depois da entrega e da pesquisa — ou quando o cliente some. Enquanto isso, atraso, SAC e pedido errado já estragaram a experiência. O NPS continua importante: é o termômetro. Mas sozinho ele não explica o porquê e chega tarde. A ideia é usar dados do pedido — logística, atendimento, reclamações — para agir antes. Logística, SAC, CRM e diretoria ganham com isso. A cadeia que queremos quebrar é: operação falha, experiência cai, NPS cai, recompra cai.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target é o nps_score do pedido, de 0 a 10. Cortamos em detrator até 6, neutro 7 e 8, promotor 9 e 10. A nota só existe depois da jornada. Por isso, para antecipar, usamos atraso, SAC e reclamações — coisas que a operação já vê. Duas variáveis não entram no modelo: recompra em 30 dias, porque é futuro, e CSAT interno, porque é nota de um atendimento com timing duvidoso. Isso é leakage: usar informação que não existiria no momento da decisão.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base bruta tem 2.500 pedidos, sem nulos e sem duplicados. Ainda assim, 144 linhas — 5,8% — não fechavam logicamente: atraso maior que o prazo, ou CSAT e tempo de resolução sem nenhum atendimento. Removi esses casos. Ficamos com 2.356. Isso não é cosmético: colegas que usam os 2.500 brutos reportam mais detratores. Eu deixo explícito: os números daqui são da base filtrada. A aula pede isso — não embelezar.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Olhando a base filtrada: nota média 4,45, com intervalo de 4,35 a 4,55. 73,5% detratores — intervalo de 71,7 a 75,3. Só 7,9% de promotores. O NPS da amostra, promotores menos detratores, fica em menos 65,6 pontos. Mensagem para o gerente: o problema é estrutural. Os três sinais que mais andam junto com nota baixa são atraso, reclamações e SAC, nessa ordem.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Primeira pergunta do gerente: o que mais pesa na satisfação? Atraso é o fator 1. Sem atraso a média é 6,7; com 3 a 4 dias cai para 3,1; com 5 ou mais, 1,3. Reclamações vêm em seguida: de 6,6 para 2,9. SAC de 5,5 para 2,5 — mas o SAC é alerta, não necessariamente a causa. Região, idade e ticket quase não separam. A ação é logística e prevenção de atraso, não segmentar campanha por perfil.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Olha o gráfico. Sem atraso, 39% detratores e nota 6,7 — ainda resgatável. Com 1 a 2 dias já vira maioria: 68% detratores, e são 1.261 pedidos. É aí que mora o problema em escala. Com 3 a 4 dias, 91% detratores. Com 5 ou mais, 99%. A frase para o gerente: detrator se concentra onde a operação atrasou, o cliente reclamou muito ou ligou várias vezes. Mas não olhe só o pior caso — o atraso leve já gera a maior parte do prejuízo em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Sim, existe ponto de ruptura, e o principal é o atraso por volta de 3 dias. Não é queda suave: o mediano cai de 5 para 3 e 9 em 10 viram detrator. No SAC a ruptura é mais gradual, mas 2 ou 3 contatos já doem — o 1º contato é a chance de resolver. Nas reclamações, o salto é na terceira: de 32% para 78% de detratores. Tentativas de entrega quase não separam a nota. O problema não é quantas vezes a transportadora bateu na porta. É quanto tempo o cliente esperou.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Quarta pergunta: que cliente tem NPS alto ou baixo? Quase nenhum recorte de perfil separa. Região não diferencia — ANOVA p de 0,50. Ticket não compra satisfação. O único sinal leve é cliente novo, até 12 meses, cerca de meio ponto pior. Vale cuidado extra na primeira entrega, não uma estratégia de perfil. As hipóteses: atraso e reclamações confirmadas. SAC confirmado como associação, mas é alerta. Tentativas de entrega não confirmadas — p de 0,45.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estatística confirma a EDA. Pearson de atraso com NPS é menos 0,57. A reta simples é NPS igual a 6,60 menos 1,03 vezes os dias de atraso. Um terço da variação da nota é só o atraso. No baseline com cinco features, sem leakage, o R² sobe para 0,47. O atraso continua cerca de menos 1,05 ponto por dia, e cada contato no SAC tira 0,75, mesmo controlando o atraso. Tentativas e ticket quase não importam. Deixo a ressalva: correlação não é causa. Os três sinais andam juntos. Mas o efeito do atraso sobrevive quando controlamos o SAC.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Quatro ações, todas preventivas. Uma: alerta e ação no segundo dia de atraso, antes de cruzar o terceiro. Duas: resolver no primeiro contato do SAC, com poder de fato — não protocolar e devolver. Três: a partir da terceira reclamação, tratar como incidente crítico. Quatro: medir NPS de pedido no prazo versus atrasado, não por região. Cliente novo ganha um olhar extra na primeira entrega. Evite a frase “vamos melhorar o SAC”: os números mostram o SAC como efeito da operação quebrada.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Limitações, de propósito. É amostra, não universo. Correlação não é causa. O NPS é do pedido, não do cliente para sempre. E nesta fase eu não entrego Random Forest: entrego entendimento, qualidade, hipóteses testadas e um baseline sem leakage com R² de 0,47. A fase 2 é o modelo de detrator, com recall — não accuracy — e uma fila de alerta. Até lá, o alerta no segundo dia já dá para ligar.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Fecho no tom do gerente. Olhando 2.356 pedidos, o que derruba a satisfação é atraso. Com 3 dias ou mais, quase 9 em 10 viram detratores. Três em quatro pedidos já saem assim. Perfil quase não separa. Próximo passo: alerta no segundo dia, resolver no primeiro contato, terceira reclamação como incidente, e medir NPS no prazo versus atrasado. Obrigado — fico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1" i="0">
                <a:solidFill>
                  <a:srgbClr val="E65100"/>
                </a:solidFill>
                <a:latin typeface="Calibri"/>
              </a:rPr>
              <a:t>TECH CHALLENGE  ·  FASE 1  ·  PÓS TECH AI SCIENTIST — FIAP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10972800" cy="13716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NPS preditivo em e-commerce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63240"/>
            <a:ext cx="1005840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"/>
              </a:rPr>
              <a:t>Identificar sinais de insatisfação antes da pesquisa —
para a operação agir a tempo.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1605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4279392"/>
            <a:ext cx="2331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2.356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773168"/>
            <a:ext cx="23317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pedidos analisados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41605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4279392"/>
            <a:ext cx="2331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73,5%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4773168"/>
            <a:ext cx="23317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detratores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1605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279392"/>
            <a:ext cx="2331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≥ 3 dias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773168"/>
            <a:ext cx="23317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ponto de ruptura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4160520"/>
            <a:ext cx="2606040" cy="123444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999" y="4279392"/>
            <a:ext cx="2331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−1,0 pt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999" y="4773168"/>
            <a:ext cx="23317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NPS por dia de atraso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263640"/>
            <a:ext cx="100584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0">
                <a:solidFill>
                  <a:srgbClr val="64748B"/>
                </a:solidFill>
                <a:latin typeface="Calibri"/>
              </a:rPr>
              <a:t>Base filtrada  ·  1 linha = 1 pedido  ·  target: nps_score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ROTEIRO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Cinco blocos, uma história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Da dor de negócio à ação preventiva — sem pular qualidade nem estatística.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109728" cy="84124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53895"/>
            <a:ext cx="1005840" cy="56692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435607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746504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Por que a insatisfação chega tarde demais e o que o NPS mede.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58568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258568"/>
            <a:ext cx="109728" cy="84124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86584"/>
            <a:ext cx="1005840" cy="56692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368296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Target e dados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2679191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nps_score, leakage, filtro de inconsistência (2.500 → 2.356).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91256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191256"/>
            <a:ext cx="109728" cy="84124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319272"/>
            <a:ext cx="1005840" cy="56692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3300984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O que os números mostram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3611880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Fatores críticos, detratores, ponto de ruptura e perfil.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23944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4123944"/>
            <a:ext cx="109728" cy="84124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251959"/>
            <a:ext cx="1005840" cy="56692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4233672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Validação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65960" y="4544568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Hipóteses H1–H4, IC 95%, testes e baseline OLS sem leakage.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56632"/>
            <a:ext cx="11155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056632"/>
            <a:ext cx="109728" cy="84124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5184648"/>
            <a:ext cx="1005840" cy="566928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5166360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Ação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5477256"/>
            <a:ext cx="9144000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O que logística, SAC e CX fazem na segunda-feira.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2  / 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01  ·  NEGÓCIO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A insatisfação chega quando já é tarde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O NPS é o termômetro. Os dados do pedido são o radar.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7432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4572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920240"/>
            <a:ext cx="246888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Operação quebra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331720"/>
            <a:ext cx="2468880" cy="9144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Atraso, pedido incompleto,
frete ou SAC emperrado.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148840"/>
            <a:ext cx="3657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1325880"/>
            <a:ext cx="27432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29000" y="1325880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1508760"/>
            <a:ext cx="4572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920240"/>
            <a:ext cx="246888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Cliente sofre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31720"/>
            <a:ext cx="2468880" cy="9144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 experiência ruim já
aconteceu — e se espalha.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148840"/>
            <a:ext cx="3657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1325880"/>
            <a:ext cx="27432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1325880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508760"/>
            <a:ext cx="4572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20240"/>
            <a:ext cx="246888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Pesquisa chega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331720"/>
            <a:ext cx="2468880" cy="9144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O NPS só é coletado
depois do fim da jornada.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2148840"/>
            <a:ext cx="3657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81160" y="1325880"/>
            <a:ext cx="2743200" cy="2148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81160" y="1325880"/>
            <a:ext cx="27432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1508760"/>
            <a:ext cx="4572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920240"/>
            <a:ext cx="246888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Custo aparece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331720"/>
            <a:ext cx="2468880" cy="9144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Menos recompra, boca a boca
negativo e risco de churn.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3703320"/>
            <a:ext cx="11155680" cy="260604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858768"/>
            <a:ext cx="1069848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CADEIA QUE QUEREMOS QUEBRAR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160520"/>
            <a:ext cx="1069848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Problema na operação  →  experiência ruim  →  NPS baixo  →  menos recompra e mais reclamação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800600"/>
            <a:ext cx="10698480" cy="1280160"/>
          </a:xfrm>
          <a:prstGeom prst="rect">
            <a:avLst/>
          </a:prstGeom>
          <a:noFill/>
        </p:spPr>
        <p:txBody>
          <a:bodyPr wrap="square" anchor="t" lIns="54864" rIns="54864" tIns="36576" bIns="36576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Quem se beneficia dos insights: logística (prazo e transportadora), SAC/CX (fila preventiva), produto, pricing, CRM e diretoria — o insight só vale se alguma área muda a decisão.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BD5E1"/>
                </a:solidFill>
                <a:latin typeface="Calibri"/>
              </a:rPr>
              <a:t>Objetivo da Fase 1: entender os sinais disponíveis durante a jornada, não esperar a nota.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3  / 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02  ·  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O que medimos — e o que não pode entrar no modelo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nps_score é a satisfação do pedido. Antecipar exige variáveis da jornada, não do futuro.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25880"/>
            <a:ext cx="109728" cy="1965960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B71C1C"/>
                </a:solidFill>
                <a:latin typeface="Calibri"/>
              </a:rPr>
              <a:t>0 –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233172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0D1B2A"/>
                </a:solidFill>
                <a:latin typeface="Calibri"/>
              </a:rPr>
              <a:t>Detrator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40280"/>
            <a:ext cx="2331720" cy="7772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Experiência ruim.
Não recomendaria.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325880"/>
            <a:ext cx="109728" cy="19659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44475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F59E0B"/>
                </a:solidFill>
                <a:latin typeface="Calibri"/>
              </a:rPr>
              <a:t>7 –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1783080"/>
            <a:ext cx="233172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0D1B2A"/>
                </a:solidFill>
                <a:latin typeface="Calibri"/>
              </a:rPr>
              <a:t>Neutro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40280"/>
            <a:ext cx="2331720" cy="7772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Experiência ok.
Não é fã.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325880"/>
            <a:ext cx="109728" cy="19659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59" y="1444752"/>
            <a:ext cx="233172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0F766E"/>
                </a:solidFill>
                <a:latin typeface="Calibri"/>
              </a:rPr>
              <a:t>9 – 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1783080"/>
            <a:ext cx="233172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0D1B2A"/>
                </a:solidFill>
                <a:latin typeface="Calibri"/>
              </a:rPr>
              <a:t>Promotor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59" y="2240280"/>
            <a:ext cx="2331720" cy="7772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Experiência boa.
Indica a marca.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20" y="1325880"/>
            <a:ext cx="2468880" cy="196596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0" y="1444752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UNIDADE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1755648"/>
            <a:ext cx="2194560" cy="12801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 linha = 1 pedido.
Coletado no fim da jornada.
Para antecipar, usamos o que já existe no caminho.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520440"/>
            <a:ext cx="54864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65760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F766E"/>
                </a:solidFill>
                <a:latin typeface="Calibri"/>
              </a:rPr>
              <a:t>Entra na análise preventiva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069080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Atraso na entrega (delivery_delay_days)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453128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Contatos no SAC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4837176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Reclamações do pedido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21224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Prazo, tentativas, ticket, região, tenure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520440"/>
            <a:ext cx="548640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365760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Fora do modelo (leakage)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069080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repeat_purchase_30d — acontece depois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453128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csat_internal_score — nota de atendimento; timing incerto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4837176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O próprio nps_score — é o alvo, não a feature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21224"/>
            <a:ext cx="512064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▸  CSAT só entra na exploração, nunca como preditor na entrega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4  / 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02  · 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Não embelezar a base: 144 pedidos saíram por inconsistência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Nulos e duplicados: zero. O problema estava na lógica — e filtrar isso muda o diagnóstico.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36118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44752"/>
            <a:ext cx="324612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0D1B2A"/>
                </a:solidFill>
                <a:latin typeface="Calibri"/>
              </a:rPr>
              <a:t>2.500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324612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pedidos brutos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86200" y="1691640"/>
            <a:ext cx="45720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325880"/>
            <a:ext cx="36118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44752"/>
            <a:ext cx="324612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B71C1C"/>
                </a:solidFill>
                <a:latin typeface="Calibri"/>
              </a:rPr>
              <a:t>−144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57400"/>
            <a:ext cx="324612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inconsistentes  (5,8%)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691640"/>
            <a:ext cx="45720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325880"/>
            <a:ext cx="361188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1444752"/>
            <a:ext cx="324612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0F766E"/>
                </a:solidFill>
                <a:latin typeface="Calibri"/>
              </a:rPr>
              <a:t>2.356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057400"/>
            <a:ext cx="324612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base da análise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880360"/>
            <a:ext cx="54864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01752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O que foi removido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474720"/>
            <a:ext cx="155448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~121 pedidos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474720"/>
            <a:ext cx="3474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atraso maior que o prazo total de entrega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069080"/>
            <a:ext cx="155448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~23 pedidos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4069080"/>
            <a:ext cx="3474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tempo de resolução ou CSAT sem SAC e sem reclamação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663440"/>
            <a:ext cx="155448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 nulos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663440"/>
            <a:ext cx="3474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completude ok em todas as colunas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257800"/>
            <a:ext cx="155448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0 duplicados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86000" y="5257800"/>
            <a:ext cx="347472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order_id único; 1 linha = 1 pedido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2880360"/>
            <a:ext cx="5486400" cy="324612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5080" y="3017520"/>
            <a:ext cx="512064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E65100"/>
                </a:solidFill>
                <a:latin typeface="Calibri"/>
              </a:rPr>
              <a:t>Por que isso importa na banca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474720"/>
            <a:ext cx="5120640" cy="2377440"/>
          </a:xfrm>
          <a:prstGeom prst="rect">
            <a:avLst/>
          </a:prstGeom>
          <a:noFill/>
        </p:spPr>
        <p:txBody>
          <a:bodyPr wrap="square" anchor="t" lIns="54864" rIns="54864" tIns="36576" bIns="36576"/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Quase ninguém filtra inconsistência lógica. Usar 2.500 linhas inteiras infla detratores e esconde lixo.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 postura da aula vale aqui: o pior erro é embelezar e criar falsa qualidade.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CBD5E1"/>
                </a:solidFill>
                <a:latin typeface="Calibri"/>
              </a:rPr>
              <a:t>Todos os números desta apresentação são da base filtrada. Se alguém citar ~80% de detratores, provavelmente está na base bruta.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5  / 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03  ·  PANORAMA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O problema é sistêmico, não pontual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IC 95%: média entre 4,35 e 4,55  ·  detratores entre 71,7% e 75,3%.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444752"/>
            <a:ext cx="242316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E65100"/>
                </a:solidFill>
                <a:latin typeface="Calibri"/>
              </a:rPr>
              <a:t>4,45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084831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NPS médio (0–10)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IC 95%  [4,35 ; 4,55]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444752"/>
            <a:ext cx="242316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B71C1C"/>
                </a:solidFill>
                <a:latin typeface="Calibri"/>
              </a:rPr>
              <a:t>73,5%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084831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detratores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2468880"/>
            <a:ext cx="242316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IC 95%  [71,7% ; 75,3%]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5508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9672" y="1444752"/>
            <a:ext cx="242316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F59E0B"/>
                </a:solidFill>
                <a:latin typeface="Calibri"/>
              </a:rPr>
              <a:t>18,5%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2084831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neutros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2468880"/>
            <a:ext cx="242316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nota 7–8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60" y="1325880"/>
            <a:ext cx="274320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45752" y="1444752"/>
            <a:ext cx="242316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3200" b="1" i="0">
                <a:solidFill>
                  <a:srgbClr val="0F766E"/>
                </a:solidFill>
                <a:latin typeface="Calibri"/>
              </a:rPr>
              <a:t>7,9%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5752" y="2084831"/>
            <a:ext cx="24231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promotores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468880"/>
            <a:ext cx="242316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nota 9–10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520440"/>
            <a:ext cx="7498079" cy="260604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703320"/>
            <a:ext cx="704088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1" i="0">
                <a:solidFill>
                  <a:srgbClr val="E65100"/>
                </a:solidFill>
                <a:latin typeface="Calibri"/>
              </a:rPr>
              <a:t>NPS DA AMOSTRA  (% promotores − % detratores)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069080"/>
            <a:ext cx="704088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−65,6 pontos percentuais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00600"/>
            <a:ext cx="7040880" cy="10058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Três em cada quatro clientes não recomendariam a loja depois daquele pedido. Isso não é “alguns clientes chatos”. É a maior parte da operação saindo insatisfeita.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83879" y="3520440"/>
            <a:ext cx="3474720" cy="2606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3703320"/>
            <a:ext cx="310896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Top 3 correlações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160520"/>
            <a:ext cx="1920240" cy="411480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1.  Atraso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41280" y="4160520"/>
            <a:ext cx="1188720" cy="411480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/>
            <a:r>
              <a:rPr sz="1600" b="1" i="0">
                <a:solidFill>
                  <a:srgbClr val="E65100"/>
                </a:solidFill>
                <a:latin typeface="Calibri"/>
              </a:rPr>
              <a:t>−0,57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4709159"/>
            <a:ext cx="1920240" cy="411480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2.  Reclamações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4709159"/>
            <a:ext cx="1188720" cy="411480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/>
            <a:r>
              <a:rPr sz="1600" b="1" i="0">
                <a:solidFill>
                  <a:srgbClr val="E65100"/>
                </a:solidFill>
                <a:latin typeface="Calibri"/>
              </a:rPr>
              <a:t>−0,49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5257800"/>
            <a:ext cx="1920240" cy="411480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3.  Contatos SAC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41280" y="5257800"/>
            <a:ext cx="1188720" cy="411480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r"/>
            <a:r>
              <a:rPr sz="1600" b="1" i="0">
                <a:solidFill>
                  <a:srgbClr val="E65100"/>
                </a:solidFill>
                <a:latin typeface="Calibri"/>
              </a:rPr>
              <a:t>−0,35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6  / 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03  ·  FATORES CRÍTICOS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Quem mexe na nota é a jornada — não o perfil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Pergunta 1 do gerente: quais fatores parecem mais críticos para a satisfação?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98448"/>
            <a:ext cx="7635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98448"/>
            <a:ext cx="109728" cy="1115568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08176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01  Atraso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408176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600" b="1" i="0">
                <a:solidFill>
                  <a:srgbClr val="E65100"/>
                </a:solidFill>
                <a:latin typeface="Calibri"/>
              </a:rPr>
              <a:t>6,7 → 1,3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1773936"/>
            <a:ext cx="7040880" cy="53035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Sem atraso a nota média é 6,7. Com 5+ dias, 1,3. Quase linear: cada dia piora a experiência.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532888"/>
            <a:ext cx="7635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532888"/>
            <a:ext cx="109728" cy="1115568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42616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02  Reclamações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642616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600" b="1" i="0">
                <a:solidFill>
                  <a:srgbClr val="B71C1C"/>
                </a:solidFill>
                <a:latin typeface="Calibri"/>
              </a:rPr>
              <a:t>6,6 → 2,9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008376"/>
            <a:ext cx="7040880" cy="53035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0–2 reclamações: NPS 6,6. 6+: 2,9. Termômetro agudo de insatisfação no pedido.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767328"/>
            <a:ext cx="7635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767328"/>
            <a:ext cx="109728" cy="11155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877056"/>
            <a:ext cx="475488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03  Contatos SAC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877056"/>
            <a:ext cx="219456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600" b="1" i="0">
                <a:solidFill>
                  <a:srgbClr val="F59E0B"/>
                </a:solidFill>
                <a:latin typeface="Calibri"/>
              </a:rPr>
              <a:t>5,5 → 2,5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42816"/>
            <a:ext cx="7040880" cy="53035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0 contatos: 5,5. 4+: 2,5. O SAC é sobretudo sintoma: o cliente liga porque algo já deu errado.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21040" y="1298448"/>
            <a:ext cx="3337560" cy="370332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1444752"/>
            <a:ext cx="29718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E65100"/>
                </a:solidFill>
                <a:latin typeface="Calibri"/>
              </a:rPr>
              <a:t>O que NÃO é crítico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1920240"/>
            <a:ext cx="2971800" cy="2834640"/>
          </a:xfrm>
          <a:prstGeom prst="rect">
            <a:avLst/>
          </a:prstGeom>
          <a:noFill/>
        </p:spPr>
        <p:txBody>
          <a:bodyPr wrap="square" anchor="t" lIns="54864" rIns="54864" tIns="36576" bIns="36576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Região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Médias 4,26 a 4,53. ANOVA p ≈ 0,50.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Idade e ticket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Variação pequena perto do efeito do atraso.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Ação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Priorizar logística, não campanha por perfil.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7  / 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03  ·  ATRASO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Cada dia a mais derruba a nota — e o volume está no atraso “leve”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Pergunta 2: o que mais gera detratores? Não é só o pior caso.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56235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52578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NPS médio por faixa de atraso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5212079"/>
            <a:ext cx="4937760" cy="13716"/>
          </a:xfrm>
          <a:prstGeom prst="rect">
            <a:avLst/>
          </a:prstGeom>
          <a:solidFill>
            <a:srgbClr val="E5E0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2489396"/>
            <a:ext cx="1138428" cy="2722683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233364"/>
            <a:ext cx="1229868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6.7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5266943"/>
            <a:ext cx="1284732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100" b="0" i="0">
                <a:solidFill>
                  <a:srgbClr val="5B677A"/>
                </a:solidFill>
                <a:latin typeface="Calibri"/>
              </a:rPr>
              <a:t>0 dias
254 ped.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5124" y="3162966"/>
            <a:ext cx="1138428" cy="2049113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89404" y="2906934"/>
            <a:ext cx="1229868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5.0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61972" y="5266943"/>
            <a:ext cx="1284732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100" b="0" i="0">
                <a:solidFill>
                  <a:srgbClr val="5B677A"/>
                </a:solidFill>
                <a:latin typeface="Calibri"/>
              </a:rPr>
              <a:t>1–2 dias
1.261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01568" y="3942035"/>
            <a:ext cx="1138428" cy="1270044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5848" y="3686003"/>
            <a:ext cx="1229868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3.1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8416" y="5266943"/>
            <a:ext cx="1284732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100" b="0" i="0">
                <a:solidFill>
                  <a:srgbClr val="5B677A"/>
                </a:solidFill>
                <a:latin typeface="Calibri"/>
              </a:rPr>
              <a:t>3–4 dias
718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8012" y="4692700"/>
            <a:ext cx="1138428" cy="519379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2292" y="4436668"/>
            <a:ext cx="1229868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200" b="1" i="0">
                <a:solidFill>
                  <a:srgbClr val="0D1B2A"/>
                </a:solidFill>
                <a:latin typeface="Calibri"/>
              </a:rPr>
              <a:t>1.3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4860" y="5266943"/>
            <a:ext cx="1284732" cy="32918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ctr"/>
            <a:r>
              <a:rPr sz="1100" b="0" i="0">
                <a:solidFill>
                  <a:srgbClr val="5B677A"/>
                </a:solidFill>
                <a:latin typeface="Calibri"/>
              </a:rPr>
              <a:t>5+ dias
123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1280160"/>
            <a:ext cx="534924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389888"/>
            <a:ext cx="498348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% detratores por faixa de atraso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60" y="1965960"/>
            <a:ext cx="196596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0 dias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549640" y="2039112"/>
            <a:ext cx="1278971" cy="39502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74331" y="1965960"/>
            <a:ext cx="118872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39%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37960" y="2788920"/>
            <a:ext cx="196596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1–2 dias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9640" y="2862072"/>
            <a:ext cx="2197623" cy="39502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92983" y="2788920"/>
            <a:ext cx="118872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68%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7960" y="3611880"/>
            <a:ext cx="196596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3–4 dias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49640" y="3685032"/>
            <a:ext cx="2966953" cy="395020"/>
          </a:xfrm>
          <a:prstGeom prst="roundRect">
            <a:avLst>
              <a:gd name="adj" fmla="val 8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562313" y="3611880"/>
            <a:ext cx="118872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91%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4434840"/>
            <a:ext cx="196596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F172A"/>
                </a:solidFill>
                <a:latin typeface="Calibri"/>
              </a:rPr>
              <a:t>5+ dias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49640" y="4507992"/>
            <a:ext cx="3220151" cy="395020"/>
          </a:xfrm>
          <a:prstGeom prst="roundRect">
            <a:avLst>
              <a:gd name="adj" fmla="val 8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815511" y="4434840"/>
            <a:ext cx="1188720" cy="576072"/>
          </a:xfrm>
          <a:prstGeom prst="rect">
            <a:avLst/>
          </a:prstGeom>
          <a:noFill/>
        </p:spPr>
        <p:txBody>
          <a:bodyPr wrap="square" anchor="ctr" lIns="36576" rIns="36576" tIns="18288" bIns="18288"/>
          <a:lstStyle/>
          <a:p>
            <a:pPr algn="l"/>
            <a:r>
              <a:rPr sz="1200" b="1" i="0">
                <a:solidFill>
                  <a:srgbClr val="0D1B2A"/>
                </a:solidFill>
                <a:latin typeface="Calibri"/>
              </a:rPr>
              <a:t>99%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37960" y="5349240"/>
            <a:ext cx="4937760" cy="5486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0">
                <a:solidFill>
                  <a:srgbClr val="5B677A"/>
                </a:solidFill>
                <a:latin typeface="Calibri"/>
              </a:rPr>
              <a:t>O bolsão de volume é 1–2 dias (1.261 pedidos, 68% detratores). O desastre é ≥ 3 dias.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8  / 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03  ·  PONTO DE RUPTURA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A experiência quebra no 3º dia de atraso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Pergunta 3: existe um degrau — não só uma queda suave.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41732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1" i="0">
                <a:solidFill>
                  <a:srgbClr val="E65100"/>
                </a:solidFill>
                <a:latin typeface="Calibri"/>
              </a:rPr>
              <a:t>DEGRAU PRINCIPAL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1069848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FFFFFF"/>
                </a:solidFill>
                <a:latin typeface="Calibri"/>
              </a:rPr>
              <a:t>De 1–2 dias para 3–4 dias: NPS mediano cai de ~5,0 para ~3,0  ·  detratores saltam de 68% para 91%.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926080"/>
            <a:ext cx="3657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3657600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ALAVANCA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01568"/>
            <a:ext cx="32918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Atraso  ≥ 3 dias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23360"/>
            <a:ext cx="3291840" cy="18288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Até 2 dias ainda é resgatável.
No 3º dia, 9 em 10 viram detrator.
Alerta no 2º dia, antes do degrau.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2926080"/>
            <a:ext cx="3657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2926080"/>
            <a:ext cx="36576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26280" y="310896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F59E0B"/>
                </a:solidFill>
                <a:latin typeface="Calibri"/>
              </a:rPr>
              <a:t>ALERTA, NÃO CAUSA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3401568"/>
            <a:ext cx="32918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SAC  2+ contatos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023360"/>
            <a:ext cx="3291840" cy="18288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0 contato: NPS 5,5.
2–3: 3,9 (81% detratores).
Resolver no 1º contato.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83880" y="2926080"/>
            <a:ext cx="365760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83880" y="2926080"/>
            <a:ext cx="3657600" cy="73152"/>
          </a:xfrm>
          <a:prstGeom prst="rect">
            <a:avLst/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310896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INCIDENTE CRÍTICO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401568"/>
            <a:ext cx="32918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1" i="0">
                <a:solidFill>
                  <a:srgbClr val="0D1B2A"/>
                </a:solidFill>
                <a:latin typeface="Calibri"/>
              </a:rPr>
              <a:t>Reclamações  3+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023360"/>
            <a:ext cx="3291840" cy="18288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5B677A"/>
                </a:solidFill>
                <a:latin typeface="Calibri"/>
              </a:rPr>
              <a:t>0–2: 32% detratores.
3–5: 78%. Salto grande.
Tratar a 3ª como prioridade.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9  / 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03–04  ·  PERFIL E HIPÓTESES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Quem é o cliente quase não muda a nota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Pergunta 4: perfil explica pouco. As hipóteses da EDA já apontavam para a operação.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5623560" cy="4846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52578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Perfil demográfico e comercial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874519"/>
            <a:ext cx="52578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Região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39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4,26 a 4,53  ·  ANOVA p ≈ 0,50  ·  sem região problemática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52578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79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Variação pequena; não separa promotor de detrator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429000"/>
            <a:ext cx="52578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Ticket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703320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Q1 4,31 vs Q4 4,57 — preço não compra satisfação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206240"/>
            <a:ext cx="52578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1" i="0">
                <a:solidFill>
                  <a:srgbClr val="E65100"/>
                </a:solidFill>
                <a:latin typeface="Calibri"/>
              </a:rPr>
              <a:t>Tenure ≤ 12 meses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480559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Único sinal leve: NPS 4,17 vs 4,68 (13–36 m). Efeito ~0,5 pt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074920"/>
            <a:ext cx="5257800" cy="7772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1">
                <a:solidFill>
                  <a:srgbClr val="5B677A"/>
                </a:solidFill>
                <a:latin typeface="Calibri"/>
              </a:rPr>
              <a:t>Dashboards de NPS devem liderar com atraso, SAC e reclamações — não com mapa por região.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280160"/>
            <a:ext cx="5349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371600"/>
            <a:ext cx="32004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H3  Atraso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1389888"/>
            <a:ext cx="1874519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200" b="1" i="0">
                <a:solidFill>
                  <a:srgbClr val="0F766E"/>
                </a:solidFill>
                <a:latin typeface="Calibri"/>
              </a:rPr>
              <a:t>Confirmada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755648"/>
            <a:ext cx="498348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Detratores atrasam 2,42 vs 1,23 dias. p ≪ 0,001.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487168"/>
            <a:ext cx="5349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578608"/>
            <a:ext cx="32004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H4  Reclamações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596896"/>
            <a:ext cx="1874519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200" b="1" i="0">
                <a:solidFill>
                  <a:srgbClr val="0F766E"/>
                </a:solidFill>
                <a:latin typeface="Calibri"/>
              </a:rPr>
              <a:t>Confirmada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962656"/>
            <a:ext cx="498348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4,64 vs 2,91 reclamações. p ≪ 0,001.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3694176"/>
            <a:ext cx="5349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3785615"/>
            <a:ext cx="32004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H1  SAC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03904"/>
            <a:ext cx="1874519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200" b="1" i="0">
                <a:solidFill>
                  <a:srgbClr val="F59E0B"/>
                </a:solidFill>
                <a:latin typeface="Calibri"/>
              </a:rPr>
              <a:t>Confirmada*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169664"/>
            <a:ext cx="498348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1,71 vs 1,06 contatos. Ler como alerta, não causa raiz.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4901183"/>
            <a:ext cx="5349240" cy="11155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4992623"/>
            <a:ext cx="3200400" cy="3200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H2  Tentativas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010912"/>
            <a:ext cx="1874519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Não confirmada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5376671"/>
            <a:ext cx="498348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NPS 4,39 vs 4,47. p ≈ 0,45. Ruído.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10  / 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04  ·  ESTATÍSTICA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O atraso continua dominante mesmo controlando o SAC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Baseline OLS sem leakage. Correlação não é causa — mas o efeito sobrevive ao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11155680" cy="123444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89888"/>
            <a:ext cx="1069848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REGRESSÃO SIMPLES  ·  R² ≈ 0,33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19072"/>
            <a:ext cx="10698480" cy="54864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NPS  ≈  6,60  −  1,03  ×  dias de atraso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9748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−1,05 pt / dia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9184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1">
                <a:solidFill>
                  <a:srgbClr val="5B677A"/>
                </a:solidFill>
                <a:latin typeface="Calibri"/>
              </a:rPr>
              <a:t>no baseline com 5 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600"/>
            <a:ext cx="3291840" cy="11430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Atraso continua o efeito dominante (p ≪ 0,001), controlando SAC, tentativas, frete e ticket.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269748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834640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−0,75 pt / contato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29184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1">
                <a:solidFill>
                  <a:srgbClr val="5B677A"/>
                </a:solidFill>
                <a:latin typeface="Calibri"/>
              </a:rPr>
              <a:t>efeito do SAC, isolado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657600"/>
            <a:ext cx="3291840" cy="11430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Relevante e independente do atraso. Interpretação: cada recontato custa nota — resolva no primeiro.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697480"/>
            <a:ext cx="3657600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834640"/>
            <a:ext cx="32918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000" b="1" i="0">
                <a:solidFill>
                  <a:srgbClr val="E65100"/>
                </a:solidFill>
                <a:latin typeface="Calibri"/>
              </a:rPr>
              <a:t>R²  0,33 → 0,47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29184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0" i="1">
                <a:solidFill>
                  <a:srgbClr val="5B677A"/>
                </a:solidFill>
                <a:latin typeface="Calibri"/>
              </a:rPr>
              <a:t>atraso só →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657600"/>
            <a:ext cx="3291840" cy="11430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0F172A"/>
                </a:solidFill>
                <a:latin typeface="Calibri"/>
              </a:rPr>
              <a:t>Quase metade da variação da nota com variáveis da jornada. Sem leakage. Sem CSAT. Sem recompra.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166360"/>
            <a:ext cx="11155680" cy="9601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Também na Parte 6: qui-quadrado faixa de atraso × detrator  χ² ≈ 333  (p ≈ 0). Frete e ticket: efeito minúsculo. Tentativas: +0,09 (p ≈ 0,05) — irrelevante na prática. Ressalva: atraso, SAC e reclamações andam juntos. O coeficiente diz “quando o atraso sobe, o NPS cai”, não “é a única causa”.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11  / 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05  ·  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O que fazer segunda-feira — antes da pesquisa NPS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Quatro passos preventivos. Não prometemos “melhorar o SAC” isolado: ele é efeito.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56692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109728" cy="228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44751"/>
            <a:ext cx="5029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81328"/>
            <a:ext cx="45720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Alerta no 2º dia de atraso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874519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LOGÍSTICA / CX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5074920" cy="10515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Antes do degrau de 3 dias (91% detratores). Contato proativo, prazo revisado, compensação se precisar.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280160"/>
            <a:ext cx="56692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280160"/>
            <a:ext cx="109728" cy="228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1444751"/>
            <a:ext cx="5029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481328"/>
            <a:ext cx="45720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Resolver no 1º contato do SAC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1874519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ATENDIMENTO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286000"/>
            <a:ext cx="5074920" cy="10515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2–3 contatos já caem para NPS ~3,9. Playbook com poder de resolver — não só protocolar.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749039"/>
            <a:ext cx="56692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3749039"/>
            <a:ext cx="109728" cy="228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913631"/>
            <a:ext cx="5029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3950207"/>
            <a:ext cx="45720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3ª reclamação = incidente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3434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QUALIDADE / CX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754879"/>
            <a:ext cx="5074920" cy="10515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Salto de 32% para 78% de detratores. Dono, prazo curto e fechamento visível para o cliente.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55080" y="3749039"/>
            <a:ext cx="566928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3749039"/>
            <a:ext cx="109728" cy="228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5120" y="3913631"/>
            <a:ext cx="50292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400" b="1" i="0">
                <a:solidFill>
                  <a:srgbClr val="E65100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23760" y="3950207"/>
            <a:ext cx="457200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600" b="1" i="0">
                <a:solidFill>
                  <a:srgbClr val="0D1B2A"/>
                </a:solidFill>
                <a:latin typeface="Calibri"/>
              </a:rPr>
              <a:t>KPI: no prazo vs atrasado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4343400"/>
            <a:ext cx="4572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DIRETORIA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4754879"/>
            <a:ext cx="5074920" cy="10515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400" b="0" i="0">
                <a:solidFill>
                  <a:srgbClr val="0F172A"/>
                </a:solidFill>
                <a:latin typeface="Calibri"/>
              </a:rPr>
              <a:t>Parar de olhar NPS por região. Medir nota e % detratores no pedido pontual versus atrasado. Extra: 1ª compra.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12  / 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100" b="1" i="0">
                <a:solidFill>
                  <a:srgbClr val="E65100"/>
                </a:solidFill>
                <a:latin typeface="Calibri"/>
              </a:rPr>
              <a:t>05  ·  LIMITES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20624"/>
            <a:ext cx="11155680" cy="420624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600" b="1" i="0">
                <a:solidFill>
                  <a:srgbClr val="0D1B2A"/>
                </a:solidFill>
                <a:latin typeface="Calibri"/>
              </a:rPr>
              <a:t>O que esta Fase 1 não promete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841248"/>
            <a:ext cx="11155680" cy="292608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Transparência com a banca vale mais do que um modelo que a gente ainda não treinou.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72237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6858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Amostra, não universo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45919"/>
            <a:ext cx="6858000" cy="34747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2.356 pedidos desta base. Os percentuais descrevem estes pedidos, não toda a operação ao vivo.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48839"/>
            <a:ext cx="72237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21991"/>
            <a:ext cx="6858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Correlação ≠ causa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14599"/>
            <a:ext cx="6858000" cy="34747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Atraso, SAC e reclamações andam juntos. O atraso sobrevive ao controle, mas não é a única causa.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017520"/>
            <a:ext cx="72237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090672"/>
            <a:ext cx="6858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NPS transacional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83279"/>
            <a:ext cx="6858000" cy="34747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Uma linha é um pedido. O mesmo cliente em outro pedido pode ter outra nota.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886200"/>
            <a:ext cx="722376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959352"/>
            <a:ext cx="68580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0D1B2A"/>
                </a:solidFill>
                <a:latin typeface="Calibri"/>
              </a:rPr>
              <a:t>Sem ML nesta fase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51960"/>
            <a:ext cx="6858000" cy="34747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5B677A"/>
                </a:solidFill>
                <a:latin typeface="Calibri"/>
              </a:rPr>
              <a:t>Baseline OLS (R² ≈ 0,47), não Random Forest nem SHAP. O opcional de IA fica para a fase 2.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1280160"/>
            <a:ext cx="3749039" cy="4846320"/>
          </a:xfrm>
          <a:prstGeom prst="roundRect">
            <a:avLst>
              <a:gd name="adj" fmla="val 8000"/>
            </a:avLst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2440" y="1444752"/>
            <a:ext cx="3383280" cy="36576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500" b="1" i="0">
                <a:solidFill>
                  <a:srgbClr val="E65100"/>
                </a:solidFill>
                <a:latin typeface="Calibri"/>
              </a:rPr>
              <a:t>Próximo passo (fase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1965960"/>
            <a:ext cx="3383280" cy="3840480"/>
          </a:xfrm>
          <a:prstGeom prst="rect">
            <a:avLst/>
          </a:prstGeom>
          <a:noFill/>
        </p:spPr>
        <p:txBody>
          <a:bodyPr wrap="square" anchor="t" lIns="54864" rIns="54864" tIns="36576" bIns="36576"/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Modelo preditivo de detrator com features da jornada — sem leakage.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Métrica certa: recall da classe detrator, não accuracy.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Fila de alerta (alto / médio / baixo) para o SAC agir no pedido em risco.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CBD5E1"/>
                </a:solidFill>
                <a:latin typeface="Calibri"/>
              </a:rPr>
              <a:t>Até lá, o SLA do 2º dia já gera valor com o que sabemos hoje.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93268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000" b="0" i="0">
                <a:solidFill>
                  <a:srgbClr val="5B677A"/>
                </a:solidFill>
                <a:latin typeface="Calibri"/>
              </a:rPr>
              <a:t>Tech Challenge Fase 1  ·  NPS Preditivo  ·  Pós Tech AI Scientist — FIAP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65392"/>
            <a:ext cx="1097280" cy="256032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r"/>
            <a:r>
              <a:rPr sz="1000" b="0" i="0">
                <a:solidFill>
                  <a:srgbClr val="5B677A"/>
                </a:solidFill>
                <a:latin typeface="Calibri"/>
              </a:rPr>
              <a:t>13  / 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972800" cy="2743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200" b="1" i="0">
                <a:solidFill>
                  <a:srgbClr val="E65100"/>
                </a:solidFill>
                <a:latin typeface="Calibri"/>
              </a:rPr>
              <a:t>ELEVATOR PITCH  ·  30 SEGUNDOS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 que levar da reunião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972800" cy="1554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800" b="0" i="0">
                <a:solidFill>
                  <a:srgbClr val="E2E8F0"/>
                </a:solidFill>
                <a:latin typeface="Calibri"/>
              </a:rPr>
              <a:t>Nos 2.356 pedidos, o que derruba a satisfação é atraso na entrega. Com 3 dias ou mais, quase 9 em 10 viram detratores. Hoje 3 em 4 pedidos já saem assim. Perfil — região, idade, ticket — quase não separa. Ação: alerta no 2º dia, resolver no 1º contato, tratar a 3ª reclamação como incidente, e medir NPS no prazo versus atrasado.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4612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3832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73,5%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886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já são detratores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24612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33832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≥ 3 dias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886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é o degrau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24612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3832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−1 pt / dia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886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efeito do atraso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6839" y="3246120"/>
            <a:ext cx="2651760" cy="1325880"/>
          </a:xfrm>
          <a:prstGeom prst="roundRect">
            <a:avLst>
              <a:gd name="adj" fmla="val 8000"/>
            </a:avLst>
          </a:prstGeom>
          <a:solidFill>
            <a:srgbClr val="1B26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3999" y="3383280"/>
            <a:ext cx="2377440" cy="50292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200" b="1" i="0">
                <a:solidFill>
                  <a:srgbClr val="E65100"/>
                </a:solidFill>
                <a:latin typeface="Calibri"/>
              </a:rPr>
              <a:t>2º 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3999" y="3886200"/>
            <a:ext cx="2377440" cy="45720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94A3B8"/>
                </a:solidFill>
                <a:latin typeface="Calibri"/>
              </a:rPr>
              <a:t>hora de agir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937760"/>
            <a:ext cx="10972800" cy="4114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Obrigado. Perguntas.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532120"/>
            <a:ext cx="10972800" cy="640080"/>
          </a:xfrm>
          <a:prstGeom prst="rect">
            <a:avLst/>
          </a:prstGeom>
          <a:noFill/>
        </p:spPr>
        <p:txBody>
          <a:bodyPr wrap="square" anchor="t" lIns="36576" rIns="36576" tIns="18288" bIns="18288"/>
          <a:lstStyle/>
          <a:p>
            <a:pPr algn="l"/>
            <a:r>
              <a:rPr sz="1300" b="0" i="0">
                <a:solidFill>
                  <a:srgbClr val="64748B"/>
                </a:solidFill>
                <a:latin typeface="Calibri"/>
              </a:rPr>
              <a:t>Notebook: notebooks/desafio_nps_fase_01.ipynb  ·  Base filtrada 2.356 pedidos  ·  FIAP Pós Tech AI Scientist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